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embeddedFontLst>
    <p:embeddedFont>
      <p:font typeface="Fraunces Extra Bold"/>
      <p:regular r:id="rId11"/>
    </p:embeddedFont>
    <p:embeddedFont>
      <p:font typeface="Nobile"/>
      <p:regular r:id="rId12"/>
    </p:embeddedFont>
    <p:embeddedFont>
      <p:font typeface="Nobile Bold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05619"/>
            <a:ext cx="484829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Modélisation multi-algorithmes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810964"/>
            <a:ext cx="794645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Six modèles ont été entraînés et évalués selon trois métriques clés pour identifier la meilleure approche prédictive.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27336" y="1140768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Modèles testés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7336" y="1403747"/>
            <a:ext cx="6742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7336" y="1573857"/>
            <a:ext cx="3612207" cy="14288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7" name="Text 5"/>
          <p:cNvSpPr/>
          <p:nvPr/>
        </p:nvSpPr>
        <p:spPr>
          <a:xfrm>
            <a:off x="827336" y="1656680"/>
            <a:ext cx="4069407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Dummy Regressor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7336" y="1974354"/>
            <a:ext cx="6742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7336" y="2144464"/>
            <a:ext cx="3612207" cy="14288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827336" y="2227287"/>
            <a:ext cx="4069407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Linear Regression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7336" y="2544961"/>
            <a:ext cx="6742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7336" y="2715071"/>
            <a:ext cx="3612207" cy="14288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827336" y="2797894"/>
            <a:ext cx="4069407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Ridge Regression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7336" y="3115568"/>
            <a:ext cx="6742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7336" y="3285679"/>
            <a:ext cx="3612207" cy="14288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336" y="3368501"/>
            <a:ext cx="4069407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 Regressor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7336" y="3686175"/>
            <a:ext cx="6742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7336" y="3856286"/>
            <a:ext cx="3612207" cy="14288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9" name="Text 17"/>
          <p:cNvSpPr/>
          <p:nvPr/>
        </p:nvSpPr>
        <p:spPr>
          <a:xfrm>
            <a:off x="827336" y="3939108"/>
            <a:ext cx="4069407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Gradient Boosting Regressor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7336" y="4256782"/>
            <a:ext cx="6742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7336" y="4426893"/>
            <a:ext cx="3612207" cy="14288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2" name="Text 20"/>
          <p:cNvSpPr/>
          <p:nvPr/>
        </p:nvSpPr>
        <p:spPr>
          <a:xfrm>
            <a:off x="827336" y="4509715"/>
            <a:ext cx="4069407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MLP Regressor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071" y="1140768"/>
            <a:ext cx="203083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Métriques d'évaluation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071" y="1403747"/>
            <a:ext cx="1764581" cy="776139"/>
          </a:xfrm>
          <a:prstGeom prst="roundRect">
            <a:avLst>
              <a:gd name="adj" fmla="val 12586"/>
            </a:avLst>
          </a:prstGeom>
          <a:solidFill>
            <a:srgbClr val="E8F3E8"/>
          </a:solidFill>
          <a:ln/>
        </p:spPr>
      </p:sp>
      <p:sp>
        <p:nvSpPr>
          <p:cNvPr id="25" name="Text 23"/>
          <p:cNvSpPr/>
          <p:nvPr/>
        </p:nvSpPr>
        <p:spPr>
          <a:xfrm>
            <a:off x="4817566" y="1512243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7566" y="1764804"/>
            <a:ext cx="200478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Erreur absolue moyenne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56697" y="1403747"/>
            <a:ext cx="1764581" cy="776139"/>
          </a:xfrm>
          <a:prstGeom prst="roundRect">
            <a:avLst>
              <a:gd name="adj" fmla="val 12586"/>
            </a:avLst>
          </a:prstGeom>
          <a:solidFill>
            <a:srgbClr val="E8F3E8"/>
          </a:solidFill>
          <a:ln/>
        </p:spPr>
      </p:sp>
      <p:sp>
        <p:nvSpPr>
          <p:cNvPr id="28" name="Text 26"/>
          <p:cNvSpPr/>
          <p:nvPr/>
        </p:nvSpPr>
        <p:spPr>
          <a:xfrm>
            <a:off x="6665193" y="1512243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RMSE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65193" y="1764804"/>
            <a:ext cx="154758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Racine de l'erreur quadratique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071" y="2262932"/>
            <a:ext cx="3612207" cy="622846"/>
          </a:xfrm>
          <a:prstGeom prst="roundRect">
            <a:avLst>
              <a:gd name="adj" fmla="val 15684"/>
            </a:avLst>
          </a:prstGeom>
          <a:solidFill>
            <a:srgbClr val="E8F3E8"/>
          </a:solidFill>
          <a:ln/>
        </p:spPr>
      </p:sp>
      <p:sp>
        <p:nvSpPr>
          <p:cNvPr id="31" name="Text 29"/>
          <p:cNvSpPr/>
          <p:nvPr/>
        </p:nvSpPr>
        <p:spPr>
          <a:xfrm>
            <a:off x="4817566" y="2371427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R²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17566" y="2623989"/>
            <a:ext cx="385241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Coefficient de détermination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071" y="2979241"/>
            <a:ext cx="3612207" cy="545753"/>
          </a:xfrm>
          <a:prstGeom prst="roundRect">
            <a:avLst>
              <a:gd name="adj" fmla="val 17899"/>
            </a:avLst>
          </a:prstGeom>
          <a:solidFill>
            <a:srgbClr val="B6D6FC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7566" y="3124646"/>
            <a:ext cx="135657" cy="10849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061719" y="3089374"/>
            <a:ext cx="31510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Comparer simple vs complexe, évaluer la stabilité et justifier le modèle final selon la performance et le besoin métier.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520229"/>
            <a:ext cx="6095256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Résultats — Prédiction des ventes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65162" y="1194197"/>
            <a:ext cx="1400845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</p:sp>
      <p:sp>
        <p:nvSpPr>
          <p:cNvPr id="4" name="Text 2"/>
          <p:cNvSpPr/>
          <p:nvPr/>
        </p:nvSpPr>
        <p:spPr>
          <a:xfrm>
            <a:off x="544860" y="1234008"/>
            <a:ext cx="1698650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TÂCHE : PRÉDIRE SALES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932459" y="1184672"/>
            <a:ext cx="2512144" cy="263426"/>
          </a:xfrm>
          <a:prstGeom prst="roundRect">
            <a:avLst>
              <a:gd name="adj" fmla="val 36326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6919" y="1229246"/>
            <a:ext cx="280042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MEILLEUR MODÈLE : LINEAR REGRESSION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36562" y="1654671"/>
            <a:ext cx="2862635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2.36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722933" y="2253109"/>
            <a:ext cx="18898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6562" y="2535510"/>
            <a:ext cx="28626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Erreur absolue moyenne sur le jeu de test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26346" y="1654671"/>
            <a:ext cx="2862635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2.96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3512716" y="2253109"/>
            <a:ext cx="18898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RMSE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26346" y="2535510"/>
            <a:ext cx="28626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Écart-type des résidus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16129" y="1654671"/>
            <a:ext cx="2862635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0.999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6302499" y="2253109"/>
            <a:ext cx="18898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16129" y="2535510"/>
            <a:ext cx="28626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Quasi-perfection explicative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5162" y="2928342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Interprétation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945" y="3329434"/>
            <a:ext cx="199355" cy="19935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97062" y="3322886"/>
            <a:ext cx="220213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Les ventes sont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très bien prédites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la relation est presque parfaitement linéaire.</a:t>
            </a:r>
            <a:endParaRPr lang="en-US" sz="10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4729" y="3329434"/>
            <a:ext cx="199355" cy="19935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86845" y="3322886"/>
            <a:ext cx="22021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budget TV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est la variable explicative la plus déterminante.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4512" y="3329434"/>
            <a:ext cx="199355" cy="19935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76628" y="3322886"/>
            <a:ext cx="220213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 modèle simple surpasse ici les modèles complexes :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parcimonie est une vertu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5162" y="4080942"/>
            <a:ext cx="8213675" cy="542255"/>
          </a:xfrm>
          <a:prstGeom prst="roundRect">
            <a:avLst>
              <a:gd name="adj" fmla="val 22059"/>
            </a:avLst>
          </a:prstGeom>
          <a:solidFill>
            <a:srgbClr val="B6FCB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66" y="4268837"/>
            <a:ext cx="166092" cy="132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7062" y="4238699"/>
            <a:ext cx="810607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Linear Regression retenu comme modèle final pour la prédiction des ventes.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123"/>
            <a:ext cx="59590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Résultats — Estimation du ROI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52153"/>
            <a:ext cx="1345555" cy="266402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4" name="Text 2"/>
          <p:cNvSpPr/>
          <p:nvPr/>
        </p:nvSpPr>
        <p:spPr>
          <a:xfrm>
            <a:off x="581174" y="1194643"/>
            <a:ext cx="163264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TÂCHE : PRÉDIRE ROI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912516" y="1142628"/>
            <a:ext cx="2448520" cy="285452"/>
          </a:xfrm>
          <a:prstGeom prst="roundRect">
            <a:avLst>
              <a:gd name="adj" fmla="val 3575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02334" y="1189881"/>
            <a:ext cx="272608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MEILLEUR MODÈLE : MLP REGRESSOR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1729308"/>
            <a:ext cx="34235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Performances du MLP Regressor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2110234"/>
            <a:ext cx="4327773" cy="1876425"/>
          </a:xfrm>
          <a:prstGeom prst="roundRect">
            <a:avLst>
              <a:gd name="adj" fmla="val 680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161" y="2204814"/>
            <a:ext cx="1610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Métrique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84636" y="2204814"/>
            <a:ext cx="1608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3729" y="2204814"/>
            <a:ext cx="11531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Validation croisée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3161" y="2842840"/>
            <a:ext cx="1610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636" y="2842840"/>
            <a:ext cx="1608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≈ 0.0465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3729" y="2842840"/>
            <a:ext cx="1610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≈ 0.0516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3161" y="3254053"/>
            <a:ext cx="1610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RMSE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636" y="3254053"/>
            <a:ext cx="1608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≈ 0.0672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3729" y="3254053"/>
            <a:ext cx="1610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≈ 0.0769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3161" y="3665265"/>
            <a:ext cx="1610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84636" y="3665265"/>
            <a:ext cx="1608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≈ 0.9412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3729" y="3665265"/>
            <a:ext cx="1610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≈ 0.9254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119" y="4146128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validation croisée confirme la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robustesse et la stabilité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du modèle sur données non vues.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2435" y="1587550"/>
            <a:ext cx="3682231" cy="3139753"/>
          </a:xfrm>
          <a:prstGeom prst="roundRect">
            <a:avLst>
              <a:gd name="adj" fmla="val 6502"/>
            </a:avLst>
          </a:prstGeom>
          <a:solidFill>
            <a:srgbClr val="438951"/>
          </a:solidFill>
          <a:ln/>
        </p:spPr>
      </p:sp>
      <p:sp>
        <p:nvSpPr>
          <p:cNvPr id="23" name="Text 21"/>
          <p:cNvSpPr/>
          <p:nvPr/>
        </p:nvSpPr>
        <p:spPr>
          <a:xfrm>
            <a:off x="5214193" y="172930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Pourquoi le MLP 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14193" y="2092523"/>
            <a:ext cx="339871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ROI est une cible plus complexe et non linéaire que les ventes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TV et Radio sont les variables les plus importantes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MLP capte des interactions subtiles qu'un modèle linéaire manquerait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3101" y="414635"/>
            <a:ext cx="4908798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Dashboard, limites et perspectives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03101" y="1368400"/>
            <a:ext cx="21303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Dashboard décisionnel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101" y="1673647"/>
            <a:ext cx="172715" cy="1727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354" y="1678707"/>
            <a:ext cx="209259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Simulation budgétaire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69354" y="1952179"/>
            <a:ext cx="204765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Testez différents scénarios d'allocation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101" y="2493392"/>
            <a:ext cx="172715" cy="1727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9354" y="2498452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Prédiction &amp; ROI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69354" y="2771924"/>
            <a:ext cx="250485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Ventes et ROI estimés en temps réel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101" y="3146152"/>
            <a:ext cx="172715" cy="1727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9354" y="3151212"/>
            <a:ext cx="197614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KPI &amp; interprétation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69354" y="3424684"/>
            <a:ext cx="204765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Résultats lisibles pour les décideurs métier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3002756" y="1368400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Limites actuelles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002756" y="1585764"/>
            <a:ext cx="200709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Pistes d'amélioration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002756" y="1859235"/>
            <a:ext cx="2313905" cy="1067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Enrichir les données et ajouter SHAP pour l'explicabilité</a:t>
            </a:r>
            <a:endParaRPr lang="en-US" sz="900" dirty="0"/>
          </a:p>
          <a:p>
            <a:pPr algn="l" marL="342900" indent="-34290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Optimiser les hyperparamètres et déployer l'application</a:t>
            </a:r>
            <a:endParaRPr lang="en-US" sz="900" dirty="0"/>
          </a:p>
          <a:p>
            <a:pPr algn="l" marL="342900" indent="-34290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Surveiller la dérive des données en production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03101" y="3969097"/>
            <a:ext cx="1573857" cy="759768"/>
          </a:xfrm>
          <a:prstGeom prst="roundRect">
            <a:avLst>
              <a:gd name="adj" fmla="val 9026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88813" y="3969097"/>
            <a:ext cx="57150" cy="759768"/>
          </a:xfrm>
          <a:prstGeom prst="roundRect">
            <a:avLst>
              <a:gd name="adj" fmla="val 181395"/>
            </a:avLst>
          </a:prstGeom>
          <a:solidFill>
            <a:srgbClr val="438951"/>
          </a:solidFill>
          <a:ln/>
        </p:spPr>
      </p:sp>
      <p:sp>
        <p:nvSpPr>
          <p:cNvPr id="19" name="Text 13"/>
          <p:cNvSpPr/>
          <p:nvPr/>
        </p:nvSpPr>
        <p:spPr>
          <a:xfrm>
            <a:off x="575370" y="4098503"/>
            <a:ext cx="127218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synthétique, sans saisonnalité ni contexte concurrentiel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070497" y="3969097"/>
            <a:ext cx="1573932" cy="759768"/>
          </a:xfrm>
          <a:prstGeom prst="roundRect">
            <a:avLst>
              <a:gd name="adj" fmla="val 9026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056209" y="3969097"/>
            <a:ext cx="57150" cy="759768"/>
          </a:xfrm>
          <a:prstGeom prst="roundRect">
            <a:avLst>
              <a:gd name="adj" fmla="val 181395"/>
            </a:avLst>
          </a:prstGeom>
          <a:solidFill>
            <a:srgbClr val="438951"/>
          </a:solidFill>
          <a:ln/>
        </p:spPr>
      </p:sp>
      <p:sp>
        <p:nvSpPr>
          <p:cNvPr id="22" name="Text 16"/>
          <p:cNvSpPr/>
          <p:nvPr/>
        </p:nvSpPr>
        <p:spPr>
          <a:xfrm>
            <a:off x="2242765" y="4098503"/>
            <a:ext cx="1272257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Absence de données sur la cible client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737967" y="3969097"/>
            <a:ext cx="1573857" cy="759768"/>
          </a:xfrm>
          <a:prstGeom prst="roundRect">
            <a:avLst>
              <a:gd name="adj" fmla="val 9026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723680" y="3969097"/>
            <a:ext cx="57150" cy="759768"/>
          </a:xfrm>
          <a:prstGeom prst="roundRect">
            <a:avLst>
              <a:gd name="adj" fmla="val 181395"/>
            </a:avLst>
          </a:prstGeom>
          <a:solidFill>
            <a:srgbClr val="438951"/>
          </a:solidFill>
          <a:ln/>
        </p:spPr>
      </p:sp>
      <p:sp>
        <p:nvSpPr>
          <p:cNvPr id="25" name="Text 19"/>
          <p:cNvSpPr/>
          <p:nvPr/>
        </p:nvSpPr>
        <p:spPr>
          <a:xfrm>
            <a:off x="3910236" y="4098503"/>
            <a:ext cx="127218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Modèle ROI (MLP) moins interprétable qu'un modèle linéaire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2026-05-20T13:40:49Z</dcterms:created>
  <dcterms:modified xsi:type="dcterms:W3CDTF">2026-05-20T13:40:49Z</dcterms:modified>
</cp:coreProperties>
</file>