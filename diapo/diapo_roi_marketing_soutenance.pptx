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en 15 secondes : sujet, objectif, deux prédictions.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: nous répondons à un problème métier concret avec deux sorties : sales et ROI.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: le dashboard est pensé pour un utilisateur non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: expliquer ce que représente une ligne : une campagne marketing.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: organisation progressive avec GitHub et séparation notebooks/dashboard.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: l’EDA justifie le choix de sales et roi comme cibles.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: la préparation évite les fuites de données, surtout pour roi.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: on ne choisit pas juste le meilleur score, mais le meilleur compromis.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: sales est très bien prédit par un modèle simple et robuste.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: pour le ROI, le MLP est meilleur car la relation est non linéaire.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: démonstration rapide avec un scénario préparé et backup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: conclure sur la valeur métier et les compétences acquises.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6012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Optimisation du ROI Marketing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6459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Système intelligent multi-modèles pour prédire les ventes et estimer le rendement des campagnes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3232" y="2212848"/>
            <a:ext cx="233172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272284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563EB"/>
                </a:solidFill>
              </a:rPr>
              <a:t>Mastère Data Engineering &amp; IA</a:t>
            </a:r>
            <a:endParaRPr lang="en-US" sz="760" dirty="0"/>
          </a:p>
        </p:txBody>
      </p:sp>
      <p:sp>
        <p:nvSpPr>
          <p:cNvPr id="6" name="Shape 4"/>
          <p:cNvSpPr/>
          <p:nvPr/>
        </p:nvSpPr>
        <p:spPr>
          <a:xfrm>
            <a:off x="3182112" y="2212848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55264" y="2272284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B981"/>
                </a:solidFill>
              </a:rPr>
              <a:t>Projet Data Science</a:t>
            </a:r>
            <a:endParaRPr lang="en-US" sz="760" dirty="0"/>
          </a:p>
        </p:txBody>
      </p:sp>
      <p:sp>
        <p:nvSpPr>
          <p:cNvPr id="8" name="Shape 6"/>
          <p:cNvSpPr/>
          <p:nvPr/>
        </p:nvSpPr>
        <p:spPr>
          <a:xfrm>
            <a:off x="4736592" y="22128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2272284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7C3AED"/>
                </a:solidFill>
              </a:rPr>
              <a:t>Régression · Dashboard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713232" y="374904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374904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9136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Problématique 1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914400" y="4169664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Sales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46268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Prédiction des ventes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01568" y="374904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01568" y="3749040"/>
            <a:ext cx="73152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2736" y="39136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Problématique 2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3602736" y="4169664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ROI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02736" y="46268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Estimation du rendement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89904" y="374904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9904" y="374904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39136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Livrable métier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6291072" y="4169664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Dashboard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91072" y="46268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Simulation budgétaire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44000" y="1143000"/>
            <a:ext cx="2286000" cy="3840480"/>
          </a:xfrm>
          <a:prstGeom prst="roundRect">
            <a:avLst>
              <a:gd name="adj" fmla="val 4800"/>
            </a:avLst>
          </a:prstGeom>
          <a:solidFill>
            <a:srgbClr val="EE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400032" y="15087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Pitch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72600" y="1938528"/>
            <a:ext cx="182880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Un outil décisionnel pour anticiper les ventes et mesurer le ROI à partir d’un scénario budgétaire marketing.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36024" y="388620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TV · Radio · Social media · Influence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Data Science — ROI Marketing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Projet &amp; contexte métier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Pourquoi prédire les ventes et le ROI marketing ?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383280" cy="42519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Problématique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26974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Comment mieux répartir un budget marketing entre TV, Radio, Social Media et Influence pour maximiser la performance 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27432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 besoin n’est pas seulement descriptif : il faut anticiper les résultats d’une future campagne.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325880"/>
            <a:ext cx="2011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32588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4904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Utilisateur visé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4681728" y="1746504"/>
            <a:ext cx="1691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CMO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81728" y="22037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Responsable marketing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720840" y="1325880"/>
            <a:ext cx="2011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20840" y="1325880"/>
            <a:ext cx="73152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22008" y="14904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Décision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922008" y="1746504"/>
            <a:ext cx="1691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Budget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22008" y="22037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Allocation par canal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961120" y="1325880"/>
            <a:ext cx="2011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61120" y="1325880"/>
            <a:ext cx="73152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62288" y="14904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Sortie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9162288" y="1746504"/>
            <a:ext cx="1691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Prédiction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62288" y="22037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Ventes + ROI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17720" y="3008376"/>
            <a:ext cx="128016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37176" y="2971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Deux tâches de régression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33375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Prédiction des ventes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404164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Estimer le volume attendu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543800" y="33375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81812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Estimation du ROI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818120" y="404164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Mesurer le rendement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Data Science — ROI Marketing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Besoin utilisateur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Transformer un modèle en outil de décision marketing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108960" cy="43434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481328"/>
            <a:ext cx="2560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Personas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256032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0F172A"/>
                </a:solidFill>
              </a:rPr>
              <a:t>Responsable marketing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CMO / acquisition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Direction commerciale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Direction financière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4251960" y="1234440"/>
            <a:ext cx="3291840" cy="4343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481328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Scénarios d’usage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1965960"/>
            <a:ext cx="269748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0F172A"/>
                </a:solidFill>
              </a:rPr>
              <a:t>Simuler un budget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Anticiper les ventes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Comparer le rendement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Comprendre les leviers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8001000" y="1234440"/>
            <a:ext cx="3063240" cy="434340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57032" y="1481328"/>
            <a:ext cx="2560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Indicateurs clés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75320" y="1874520"/>
            <a:ext cx="22860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1874520"/>
            <a:ext cx="73152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76488" y="203911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KPI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476488" y="2295144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Sales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76488" y="27523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Ventes prédites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275320" y="2788920"/>
            <a:ext cx="22860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2788920"/>
            <a:ext cx="73152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76488" y="295351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KPI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8476488" y="3209544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ROI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76488" y="36667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Rendement attendu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275320" y="3703320"/>
            <a:ext cx="22860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75320" y="3703320"/>
            <a:ext cx="7315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6488" y="386791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KPI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8476488" y="4123944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Budget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476488" y="45811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Répartition canal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4400" y="5824728"/>
            <a:ext cx="9966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Valeur ajoutée : arbitrer vite, expliquer clairement, simuler sans notebook.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Data Science — ROI Marketing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Référentiel de données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 dataset marketing multicanal enrichi pour deux cibles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2468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261872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264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Après nettoyage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86968" y="1682496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4 546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3969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campagnes exploitables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01568" y="1261872"/>
            <a:ext cx="2468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1261872"/>
            <a:ext cx="73152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2736" y="14264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Variables finales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3602736" y="1682496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11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02736" y="213969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dont variables dérivées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17336" y="1261872"/>
            <a:ext cx="2468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261872"/>
            <a:ext cx="73152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14264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Format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6318504" y="1682496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CSV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18504" y="213969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dataset tabulaire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833104" y="1261872"/>
            <a:ext cx="2468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33104" y="1261872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34272" y="14264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Cibles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9034272" y="1682496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34272" y="213969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sales + roi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5800" y="2880360"/>
            <a:ext cx="50292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0120" y="3127248"/>
            <a:ext cx="43891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Variables explicatives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87552" y="3703320"/>
            <a:ext cx="68580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0704" y="3762756"/>
            <a:ext cx="539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563EB"/>
                </a:solidFill>
              </a:rPr>
              <a:t>tv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1828800" y="370332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01952" y="3762756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B981"/>
                </a:solidFill>
              </a:rPr>
              <a:t>radio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2807208" y="3703320"/>
            <a:ext cx="12801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0360" y="3762756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59E0B"/>
                </a:solidFill>
              </a:rPr>
              <a:t>social_media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4251960" y="3703320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25112" y="3762756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7C3AED"/>
                </a:solidFill>
              </a:rPr>
              <a:t>influencer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987552" y="4343400"/>
            <a:ext cx="4160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Budgets + type d’influenceur utilisés dans les deux modèles.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72200" y="288036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46520" y="3127248"/>
            <a:ext cx="43891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Variables dérivées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3611880"/>
            <a:ext cx="429768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0F172A"/>
                </a:solidFill>
              </a:rPr>
              <a:t>total_budget = tv + radio + social_media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roi = sales / total_budget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parts de budget par canal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sales_category pour l’EDA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Data Science — ROI Marketing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Méthodologie &amp; organisation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Une démarche itérative, versionnée et orientée livrables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947672" y="2788920"/>
            <a:ext cx="11430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639312" y="2788920"/>
            <a:ext cx="11430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330952" y="2788920"/>
            <a:ext cx="11430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022592" y="2788920"/>
            <a:ext cx="11430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714232" y="2788920"/>
            <a:ext cx="11430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2331720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487168"/>
            <a:ext cx="228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218688"/>
            <a:ext cx="1143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Comprendre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le sujet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514600" y="2331720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2487168"/>
            <a:ext cx="228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3218688"/>
            <a:ext cx="1143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EDA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206240" y="2331720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6552" y="2487168"/>
            <a:ext cx="228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77640" y="3218688"/>
            <a:ext cx="1143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Préparer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les données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897880" y="2331720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08192" y="2487168"/>
            <a:ext cx="228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3218688"/>
            <a:ext cx="1143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Modéliser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589520" y="2331720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99832" y="2487168"/>
            <a:ext cx="228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60920" y="3218688"/>
            <a:ext cx="1143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Évaluer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9281160" y="2331720"/>
            <a:ext cx="658368" cy="6583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91472" y="2487168"/>
            <a:ext cx="228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52560" y="3218688"/>
            <a:ext cx="1143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Dashboard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68680" y="4251960"/>
            <a:ext cx="2926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97280" y="4462272"/>
            <a:ext cx="2468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Binôme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" y="4800600"/>
            <a:ext cx="2423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EDA + modélisation + dashboard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17720" y="4251960"/>
            <a:ext cx="2926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4462272"/>
            <a:ext cx="2468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Outils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4800600"/>
            <a:ext cx="2423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Python · Notebooks · GitHub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366760" y="4251960"/>
            <a:ext cx="2926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595360" y="4462272"/>
            <a:ext cx="2468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Risques gérés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95360" y="4800600"/>
            <a:ext cx="2423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data leakage · erreurs · overfitting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Data Science — ROI Marketing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— principaux enseignements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Comprendre les données avant de modéliser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3891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344168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Corrélation avec Sales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7552" y="1554480"/>
            <a:ext cx="1210056" cy="2697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288536"/>
            <a:ext cx="126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tv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960120" y="1389888"/>
            <a:ext cx="126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</a:rPr>
              <a:t>0.999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325624" y="1905503"/>
            <a:ext cx="1210056" cy="234645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98192" y="4288536"/>
            <a:ext cx="126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radio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298192" y="1740911"/>
            <a:ext cx="126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</a:rPr>
              <a:t>0.869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3663696" y="2823565"/>
            <a:ext cx="1210056" cy="142839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6264" y="4288536"/>
            <a:ext cx="126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social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636264" y="2658973"/>
            <a:ext cx="1264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</a:rPr>
              <a:t>0.529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5532120" y="123444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06440" y="1463040"/>
            <a:ext cx="2103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TV domine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06440" y="1828800"/>
            <a:ext cx="2103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relation quasi linéaire avec Sales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549640" y="123444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823960" y="1463040"/>
            <a:ext cx="2103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Influenceurs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23960" y="1828800"/>
            <a:ext cx="2103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répartition équilibrée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32120" y="2971800"/>
            <a:ext cx="56692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644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Premières hypothèses métier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06440" y="3657600"/>
            <a:ext cx="48006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0F172A"/>
                </a:solidFill>
              </a:rPr>
              <a:t>Plus le budget TV augmente, plus les ventes augmentent.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Le ROI est plus complexe : ratio ventes / budget.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Les outliers et valeurs manquantes doivent être contrôlés.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822960" y="5166360"/>
            <a:ext cx="10058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</a:rPr>
              <a:t>Limite : dataset synthétique, sans temporalité ni contexte concurrentiel.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Data Science — ROI Marketing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Préparation des données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 pipeline pour sécuriser la modélisation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194560" y="2743200"/>
            <a:ext cx="548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206240" y="2743200"/>
            <a:ext cx="548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217920" y="2743200"/>
            <a:ext cx="548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29600" y="2743200"/>
            <a:ext cx="548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7240" y="1965960"/>
            <a:ext cx="1508760" cy="1554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240280"/>
            <a:ext cx="1234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Nettoyage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86968" y="2670048"/>
            <a:ext cx="1280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NaN supprimés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colonnes harmonisées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788920" y="1965960"/>
            <a:ext cx="1508760" cy="1554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26080" y="2240280"/>
            <a:ext cx="1234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Features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98648" y="2670048"/>
            <a:ext cx="1280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total_budget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roi · shares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800600" y="1965960"/>
            <a:ext cx="1508760" cy="1554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2240280"/>
            <a:ext cx="1234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Split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10328" y="2670048"/>
            <a:ext cx="1280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80% train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20% test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812280" y="1965960"/>
            <a:ext cx="1508760" cy="1554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2240280"/>
            <a:ext cx="1234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Préprocess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22008" y="2670048"/>
            <a:ext cx="1280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StandardScaler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OneHotEncoder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8823960" y="1965960"/>
            <a:ext cx="1508760" cy="1554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61120" y="2240280"/>
            <a:ext cx="1234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Anti-leakage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33688" y="2670048"/>
            <a:ext cx="1280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pas de cible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dans les entrées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7240" y="4343400"/>
            <a:ext cx="4983480" cy="100584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51560" y="4617720"/>
            <a:ext cx="4389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Entrées modèles : tv · radio · social_media · influencer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4343400"/>
            <a:ext cx="4526280" cy="100584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75120" y="4617720"/>
            <a:ext cx="39776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Cibles : sales et roi, traitées séparément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Data Science — ROI Marketing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Modèles testés &amp; critères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Comparer simple, avancé et Deep Learning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49808" y="1234440"/>
            <a:ext cx="2926080" cy="42062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1508760"/>
            <a:ext cx="2286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Familles de modèles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1993392"/>
            <a:ext cx="233172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0F172A"/>
                </a:solidFill>
              </a:rPr>
              <a:t>Baseline : Dummy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Linéaires : Linear, Ridge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Ensemble : Random Forest, Gradient Boosting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Deep Learning : MLP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4251960" y="1234440"/>
            <a:ext cx="2926080" cy="42062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508760"/>
            <a:ext cx="2286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Métriques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920240"/>
            <a:ext cx="2148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920240"/>
            <a:ext cx="73152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2084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Erreur moyenne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773168" y="2340864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MAE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73168" y="2798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plus bas = mieux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0" y="2907792"/>
            <a:ext cx="2148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2907792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30723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Grosses erreurs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773168" y="3328416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RMSE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73168" y="3785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plus bas = mieux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3895344"/>
            <a:ext cx="2148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3895344"/>
            <a:ext cx="73152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4059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Explication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773168" y="4315968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R²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73168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proche de 1 = mieux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772400" y="1234440"/>
            <a:ext cx="315468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28432" y="1508760"/>
            <a:ext cx="25146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Critères de sélection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28432" y="2029968"/>
            <a:ext cx="233172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0F172A"/>
                </a:solidFill>
              </a:rPr>
              <a:t>Performance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Stabilité CV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Interprétabilité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Temps d’entraînement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Cohérence métier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Data Science — ROI Marketing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Résultats — Prédiction des ventes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Modèle final : Linear Regression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1945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990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MAE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932688" y="1655064"/>
            <a:ext cx="1874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2,36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21122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erreur moyenne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1945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23444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3990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RMSE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3447288" y="1655064"/>
            <a:ext cx="1874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2,96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47288" y="21122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grosses erreurs limitées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760720" y="1234440"/>
            <a:ext cx="21945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123444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13990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R²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961888" y="1655064"/>
            <a:ext cx="1874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0,99898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61888" y="21122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quasi toute la variance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275320" y="1234440"/>
            <a:ext cx="21945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75320" y="1234440"/>
            <a:ext cx="73152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76488" y="13990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CV R²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8476488" y="1655064"/>
            <a:ext cx="1874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0,99899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76488" y="21122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stable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77240" y="2880360"/>
            <a:ext cx="484632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41832" y="2990088"/>
            <a:ext cx="4517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RMSE test par modèle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33272" y="3680291"/>
            <a:ext cx="766267" cy="130318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020056"/>
            <a:ext cx="8211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Linear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005840" y="3515699"/>
            <a:ext cx="82113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</a:rPr>
              <a:t>2.96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1927555" y="3680291"/>
            <a:ext cx="766267" cy="130318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00123" y="5020056"/>
            <a:ext cx="8211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Ridge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1900123" y="3515699"/>
            <a:ext cx="82113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</a:rPr>
              <a:t>2.96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2821838" y="3649472"/>
            <a:ext cx="766267" cy="133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94406" y="5020056"/>
            <a:ext cx="8211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GB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2794406" y="3484880"/>
            <a:ext cx="82113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</a:rPr>
              <a:t>3.03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3716122" y="3482171"/>
            <a:ext cx="766267" cy="150130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88690" y="5020056"/>
            <a:ext cx="8211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RF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3688690" y="3317579"/>
            <a:ext cx="82113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</a:rPr>
              <a:t>3.41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4610405" y="3200400"/>
            <a:ext cx="766267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82973" y="5020056"/>
            <a:ext cx="8211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MLP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4582973" y="3035808"/>
            <a:ext cx="82113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</a:rPr>
              <a:t>4.05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6172200" y="2880360"/>
            <a:ext cx="47091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46520" y="3154680"/>
            <a:ext cx="41148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Lecture métier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46520" y="3611880"/>
            <a:ext cx="406908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0F172A"/>
                </a:solidFill>
              </a:rPr>
              <a:t>Relation très linéaire entre budgets et ventes.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Le budget TV domine l’explication des ventes.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Le modèle simple est plus pertinent que le Deep Learning ici.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6446520" y="4983480"/>
            <a:ext cx="233172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9672" y="5042916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563EB"/>
                </a:solidFill>
              </a:rPr>
              <a:t>Choix final : Linear Regression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50292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Data Science — ROI Marketing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Résultats — Estimation du ROI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Modèle final : MLP Regressor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1945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990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MAE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932688" y="1655064"/>
            <a:ext cx="1874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0,0465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21122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erreur moyenne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1945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23444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3990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RMSE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3447288" y="1655064"/>
            <a:ext cx="1874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0,0672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47288" y="21122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grosses erreurs limitées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760720" y="1234440"/>
            <a:ext cx="21945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123444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13990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R²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961888" y="1655064"/>
            <a:ext cx="1874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0,9412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61888" y="21122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test set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275320" y="1234440"/>
            <a:ext cx="21945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75320" y="1234440"/>
            <a:ext cx="73152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76488" y="13990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CV R²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8476488" y="1655064"/>
            <a:ext cx="1874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0,9254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76488" y="21122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stable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77240" y="2880360"/>
            <a:ext cx="484632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41832" y="2990088"/>
            <a:ext cx="4517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RMSE test par modèle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33272" y="4181692"/>
            <a:ext cx="766267" cy="8017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020056"/>
            <a:ext cx="8211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MLP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005840" y="4017100"/>
            <a:ext cx="82113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</a:rPr>
              <a:t>0.067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1927555" y="4157758"/>
            <a:ext cx="766267" cy="82572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00123" y="5020056"/>
            <a:ext cx="8211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GB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1900123" y="3993166"/>
            <a:ext cx="82113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</a:rPr>
              <a:t>0.069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2821838" y="4109890"/>
            <a:ext cx="766267" cy="87359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94406" y="5020056"/>
            <a:ext cx="8211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RF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2794406" y="3945298"/>
            <a:ext cx="82113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</a:rPr>
              <a:t>0.073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3716122" y="3200400"/>
            <a:ext cx="766267" cy="1783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88690" y="5020056"/>
            <a:ext cx="8211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Ridge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3688690" y="3035808"/>
            <a:ext cx="82113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</a:rPr>
              <a:t>0.149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4610405" y="3200400"/>
            <a:ext cx="766267" cy="1783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82973" y="5020056"/>
            <a:ext cx="8211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Linear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4582973" y="3035808"/>
            <a:ext cx="82113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</a:rPr>
              <a:t>0.149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6172200" y="2880360"/>
            <a:ext cx="47091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46520" y="3154680"/>
            <a:ext cx="41148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Lecture métier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46520" y="3611880"/>
            <a:ext cx="406908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0F172A"/>
                </a:solidFill>
              </a:rPr>
              <a:t>Le ROI est plus complexe : ratio ventes / budget.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TV et Radio sont les variables les plus influentes.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Les modèles non linéaires capturent mieux le rendement.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6446520" y="4983480"/>
            <a:ext cx="2331720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9672" y="5042916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B981"/>
                </a:solidFill>
              </a:rPr>
              <a:t>Choix final : MLP Regressor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50292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Data Science — ROI Marketing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décisionnel &amp; démonstration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Deux onglets simples pour l’utilisateur métier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49377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417320"/>
            <a:ext cx="914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Onglet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Prédiction des ventes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2331720"/>
            <a:ext cx="393192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0F172A"/>
                </a:solidFill>
              </a:rPr>
              <a:t>Saisie des budgets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Ventes prédites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Budget total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Canal dominant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Interprétation business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309360" y="1143000"/>
            <a:ext cx="49377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417320"/>
            <a:ext cx="914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Onglet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Budget &amp; impact ROI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11112" y="2331720"/>
            <a:ext cx="393192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0F172A"/>
                </a:solidFill>
              </a:rPr>
              <a:t>ROI prédit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Niveau de rendement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Répartition budget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Jauge ROI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Aide à la décision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960120" y="5897880"/>
            <a:ext cx="10149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Scénario de démo : modifier TV, Radio, Social Media et Influenceur → observer Sales + ROI en temps réel.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Data Science — ROI Marketing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&amp; perspectives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321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Une solution complète, explicable et améliorable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3200400" cy="429768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508760"/>
            <a:ext cx="2377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Réalisé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965960"/>
            <a:ext cx="246888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0F172A"/>
                </a:solidFill>
              </a:rPr>
              <a:t>EDA structurée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Préprocessing sécurisé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6 modèles comparés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2 modèles finaux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Dashboard métier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4480560" y="1234440"/>
            <a:ext cx="3200400" cy="429768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508760"/>
            <a:ext cx="2377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Limites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965960"/>
            <a:ext cx="246888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0F172A"/>
                </a:solidFill>
              </a:rPr>
              <a:t>Dataset synthétique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Pas de temporalité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Variables métier limitées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Causalité non prouvée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MLP moins explicable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8183880" y="1234440"/>
            <a:ext cx="3200400" cy="429768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58200" y="1508760"/>
            <a:ext cx="2377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Améliorations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58200" y="1965960"/>
            <a:ext cx="246888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0F172A"/>
                </a:solidFill>
              </a:rPr>
              <a:t>Données réelles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SHAP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Optimisation budget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API complète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Déploiement cloud</a:t>
            </a:r>
            <a:endParaRPr lang="en-US" sz="1120" dirty="0"/>
          </a:p>
          <a:p>
            <a:r>
              <a:rPr lang="en-US" sz="1120" dirty="0">
                <a:solidFill>
                  <a:srgbClr val="0F172A"/>
                </a:solidFill>
              </a:rPr>
              <a:t>Monitoring dérive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868680" y="5897880"/>
            <a:ext cx="10424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Message final : prédire ne suffit pas — il faut expliquer, comparer et rendre l’outil utilisable.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Data Science — ROI Marketing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EFREI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- Optimisation du ROI Marketing</dc:title>
  <dc:subject>Optimisation du ROI Marketing</dc:subject>
  <dc:creator>OpenAI</dc:creator>
  <cp:lastModifiedBy>OpenAI</cp:lastModifiedBy>
  <cp:revision>1</cp:revision>
  <dcterms:created xsi:type="dcterms:W3CDTF">2026-05-20T13:20:40Z</dcterms:created>
  <dcterms:modified xsi:type="dcterms:W3CDTF">2026-05-20T13:20:40Z</dcterms:modified>
</cp:coreProperties>
</file>